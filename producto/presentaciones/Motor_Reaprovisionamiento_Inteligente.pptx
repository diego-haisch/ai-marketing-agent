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300"/>
    <a:srgbClr val="EAA83B"/>
    <a:srgbClr val="F8F7F7"/>
    <a:srgbClr val="102131"/>
    <a:srgbClr val="11AFC3"/>
    <a:srgbClr val="0E84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288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4152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C6A863-C8C2-D0B1-E146-FFA6BFE705E5}"/>
              </a:ext>
            </a:extLst>
          </p:cNvPr>
          <p:cNvSpPr txBox="1"/>
          <p:nvPr/>
        </p:nvSpPr>
        <p:spPr>
          <a:xfrm>
            <a:off x="928587" y="1259175"/>
            <a:ext cx="1033177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800" spc="-300" dirty="0">
                <a:solidFill>
                  <a:srgbClr val="0E848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INVENTORY ENGINE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1893" y="5727788"/>
            <a:ext cx="2825166" cy="565033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4DF29D50-5EE4-E87B-E985-D2C204A7BEFD}"/>
              </a:ext>
            </a:extLst>
          </p:cNvPr>
          <p:cNvGrpSpPr/>
          <p:nvPr/>
        </p:nvGrpSpPr>
        <p:grpSpPr>
          <a:xfrm>
            <a:off x="7784017" y="3664670"/>
            <a:ext cx="2858845" cy="1532740"/>
            <a:chOff x="8006680" y="3462006"/>
            <a:chExt cx="2858845" cy="153274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5DE67C3-5672-2FF2-8B91-EA5A0222F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72" r="50641"/>
            <a:stretch>
              <a:fillRect/>
            </a:stretch>
          </p:blipFill>
          <p:spPr>
            <a:xfrm>
              <a:off x="8006680" y="3462006"/>
              <a:ext cx="2636182" cy="892424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34ABD04-A7FA-D4FF-97F0-B1BBFF26A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611"/>
            <a:stretch>
              <a:fillRect/>
            </a:stretch>
          </p:blipFill>
          <p:spPr>
            <a:xfrm>
              <a:off x="8006680" y="4102322"/>
              <a:ext cx="2858845" cy="892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Objetivos de la reunión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08276" y="17373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208276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5276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necesitamos un motor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reaprovisionamiento?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74436" y="17373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74436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31436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toma decisiones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40596" y="17373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340596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97596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valor aporta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negocio?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25296" y="4754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25296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39896" y="4754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3739896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54496" y="4754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254496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Artificial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69096" y="4754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8769096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</a:t>
            </a: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 ApplyChain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56716" y="1645920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156716" y="1645920"/>
            <a:ext cx="292608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2299716" y="19659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29971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671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Negocio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13916" y="3383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Replenishment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31436" y="1645920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631436" y="1645920"/>
            <a:ext cx="292608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5774436" y="19659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77443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3143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88636" y="3383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Analytics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predictivo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06156" y="1645920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106156" y="1645920"/>
            <a:ext cx="292608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9249156" y="196596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24915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0615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63356" y="3383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/ IA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0" y="5120640"/>
            <a:ext cx="9445752" cy="731520"/>
          </a:xfrm>
          <a:prstGeom prst="rect">
            <a:avLst/>
          </a:prstGeom>
          <a:solidFill>
            <a:srgbClr val="10213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8F7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 </a:t>
            </a:r>
            <a:r>
              <a:rPr lang="en-US" sz="1300" i="1" dirty="0">
                <a:solidFill>
                  <a:srgbClr val="EAA8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SIMPLES</a:t>
            </a:r>
            <a:r>
              <a:rPr lang="en-US" sz="1300" i="1" dirty="0">
                <a:solidFill>
                  <a:srgbClr val="F8F7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300" i="1" dirty="0" err="1">
                <a:solidFill>
                  <a:srgbClr val="F8F7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problemas</a:t>
            </a:r>
            <a:r>
              <a:rPr lang="en-US" sz="1300" i="1" dirty="0">
                <a:solidFill>
                  <a:srgbClr val="F8F7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>
                <a:solidFill>
                  <a:srgbClr val="D603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COMPLEJOS</a:t>
            </a:r>
            <a:endParaRPr lang="en-US" sz="1300" dirty="0">
              <a:solidFill>
                <a:srgbClr val="D6030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 de negocio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828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46304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6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 Perdida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828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67512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A8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Sobrestock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34640" y="2651760"/>
            <a:ext cx="4663440" cy="0"/>
          </a:xfrm>
          <a:prstGeom prst="line">
            <a:avLst/>
          </a:prstGeom>
          <a:noFill/>
          <a:ln w="254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852160" y="2468880"/>
            <a:ext cx="411480" cy="365760"/>
          </a:xfrm>
          <a:prstGeom prst="triangl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743200" y="3108960"/>
            <a:ext cx="6702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 trata de tener más stock.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trata de tener el stock correcto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el lugar correcto y en el momento correcto.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71600" y="4645152"/>
            <a:ext cx="164592" cy="164592"/>
          </a:xfrm>
          <a:prstGeom prst="ellipse">
            <a:avLst/>
          </a:prstGeom>
          <a:solidFill>
            <a:srgbClr val="EC46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Roturas de stock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4645152"/>
            <a:ext cx="164592" cy="164592"/>
          </a:xfrm>
          <a:prstGeom prst="ellipse">
            <a:avLst/>
          </a:prstGeom>
          <a:solidFill>
            <a:srgbClr val="EC46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029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Sobrestock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4645152"/>
            <a:ext cx="164592" cy="164592"/>
          </a:xfrm>
          <a:prstGeom prst="ellipse">
            <a:avLst/>
          </a:prstGeom>
          <a:solidFill>
            <a:srgbClr val="EC46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4124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inmovilizado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71600" y="5239512"/>
            <a:ext cx="164592" cy="164592"/>
          </a:xfrm>
          <a:prstGeom prst="ellipse">
            <a:avLst/>
          </a:prstGeom>
          <a:solidFill>
            <a:srgbClr val="EC46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64592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 manuales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5239512"/>
            <a:ext cx="164592" cy="164592"/>
          </a:xfrm>
          <a:prstGeom prst="ellipse">
            <a:avLst/>
          </a:prstGeom>
          <a:solidFill>
            <a:srgbClr val="EC46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02920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Falta de visibilidad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Forecasting: la base de todo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calidad del reaprovisionamiento nunca será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que la calidad de la previsión.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39596" y="256032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2281428" y="2450592"/>
            <a:ext cx="219456" cy="219456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522476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Históricos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venta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08476" y="256032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50308" y="2450592"/>
            <a:ext cx="219456" cy="219456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991356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Tendencias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77356" y="256032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219188" y="2450592"/>
            <a:ext cx="219456" cy="219456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60236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Estacionalidad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46236" y="256032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9688068" y="2450592"/>
            <a:ext cx="219456" cy="219456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929116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anómalos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011680" y="39319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01168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estadísticos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9319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E84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612648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cuando aporta valor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796796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1796796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 fiable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02836" y="5166360"/>
            <a:ext cx="320040" cy="176022"/>
          </a:xfrm>
          <a:prstGeom prst="rightArrow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4814316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814316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reposición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20356" y="5166360"/>
            <a:ext cx="320040" cy="176022"/>
          </a:xfrm>
          <a:prstGeom prst="rightArrow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7831836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7831836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servicio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funciona el motor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1076" y="1371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751076" y="1737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751076" y="17373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64992" y="2103120"/>
            <a:ext cx="109728" cy="109728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3534156" y="1737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534156" y="17373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48072" y="2103120"/>
            <a:ext cx="109728" cy="109728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5317236" y="1737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317236" y="17373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31152" y="2103120"/>
            <a:ext cx="109728" cy="109728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7100316" y="1737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100316" y="17373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tránsito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14232" y="2103120"/>
            <a:ext cx="109728" cy="109728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883396" y="17373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883396" y="17373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Política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2697480"/>
            <a:ext cx="365760" cy="365760"/>
          </a:xfrm>
          <a:prstGeom prst="downArrow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2926080" y="3200400"/>
            <a:ext cx="6336792" cy="1371600"/>
          </a:xfrm>
          <a:prstGeom prst="roundRect">
            <a:avLst>
              <a:gd name="adj" fmla="val 4000"/>
            </a:avLst>
          </a:prstGeom>
          <a:solidFill>
            <a:srgbClr val="11AFC3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2926080" y="3291840"/>
            <a:ext cx="6336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MOTOR — Algoritmo de reposición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3657600"/>
            <a:ext cx="6336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 + Stock + Reglas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303520" y="4160520"/>
            <a:ext cx="1581912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5852160" y="4709160"/>
            <a:ext cx="365760" cy="365760"/>
          </a:xfrm>
          <a:prstGeom prst="downArrow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2345436" y="5212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345436" y="557784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2345436" y="5577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Pedido recomendado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97196" y="557784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4997196" y="5577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648956" y="557784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7648956" y="5577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Filosofía de trabajo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por excepción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103120"/>
            <a:ext cx="2377440" cy="237744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371600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Automatizado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74720" y="2926080"/>
            <a:ext cx="1645920" cy="1645920"/>
          </a:xfrm>
          <a:prstGeom prst="ellipse">
            <a:avLst/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474720" y="2926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calcula.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usuario decide.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43600" y="3063240"/>
            <a:ext cx="164592" cy="164592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trabajo manual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063240"/>
            <a:ext cx="164592" cy="164592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7782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productividad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3703320"/>
            <a:ext cx="164592" cy="164592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21792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foco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03920" y="3703320"/>
            <a:ext cx="164592" cy="164592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77824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escalabilidad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Demostración Power BI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herramienta responde a tres preguntas: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28116" y="201168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928116" y="2011680"/>
            <a:ext cx="310896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202436" y="22860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CF3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202436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2436" y="3657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¿Está funcionando correctamente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distribución?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39996" y="201168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39996" y="2011680"/>
            <a:ext cx="310896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814316" y="22860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CF3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814316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Replenishment Flow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14316" y="3657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el sistema propone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estas cantidades?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51876" y="2011680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151876" y="2011680"/>
            <a:ext cx="310896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426196" y="22860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CF3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426196" y="2286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Review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26196" y="36576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pedido voy a aprobar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finalmente?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moderno con IA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Inteligencia Artificial acelera el desarrollo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sustituir el conocimiento de negocio.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10725912" cy="640080"/>
          </a:xfrm>
          <a:prstGeom prst="roundRect">
            <a:avLst>
              <a:gd name="adj" fmla="val 8571"/>
            </a:avLst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ARTIFICIAL — capa transversal que acelera todo el ciclo de desarrollo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2011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analítico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2011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13816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926080" y="36576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292608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98080" y="36576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49808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828800" y="4846320"/>
            <a:ext cx="182880" cy="1828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1488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tiempo de entrega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4846320"/>
            <a:ext cx="182880" cy="1828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3492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coste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0" y="4846320"/>
            <a:ext cx="182880" cy="1828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85496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Mayor capacidad de iteración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tecnológica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51076" y="1645920"/>
            <a:ext cx="8686800" cy="640080"/>
          </a:xfrm>
          <a:prstGeom prst="roundRect">
            <a:avLst>
              <a:gd name="adj" fmla="val 857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208276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08276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fuente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84748" y="2286000"/>
            <a:ext cx="219456" cy="91440"/>
          </a:xfrm>
          <a:prstGeom prst="downArrow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1751076" y="2359152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208276" y="2359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Ventas · Stock · Forecast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4748" y="2999232"/>
            <a:ext cx="219456" cy="91440"/>
          </a:xfrm>
          <a:prstGeom prst="downArrow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751076" y="3072384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208276" y="307238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MOTOR PYTHON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08276" y="307238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 de reposición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4748" y="3712464"/>
            <a:ext cx="219456" cy="91440"/>
          </a:xfrm>
          <a:prstGeom prst="downArrow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751076" y="3785616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0E84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2208276" y="378561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208276" y="378561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y control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4748" y="4425696"/>
            <a:ext cx="219456" cy="91440"/>
          </a:xfrm>
          <a:prstGeom prst="downArrow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751076" y="4498848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2208276" y="44988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208276" y="44988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por excepción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645920" y="54864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1645920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0" y="54864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114800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Escalable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54864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6583680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Integrable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54864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052560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AF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Fácil de mantener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Inversión y retorno esperado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54480"/>
            <a:ext cx="4754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1440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Inversión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Desarrollo: 12.000 €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Mantenimiento: 200 € / 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97280" y="29260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97280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14.400 € inversión primer año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1,4% del beneficio anual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840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tiendas · 300.000 € ventas/tienda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10,5 M€ ventas anuales · 1,05 M€ beneficio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23951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400800" y="164592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A8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Retorno potencial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210312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 de venta perdida recuperada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105.000 € ventas adicionales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~10.500 € beneficio incremental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92240" y="3108960"/>
            <a:ext cx="4690872" cy="502920"/>
          </a:xfrm>
          <a:prstGeom prst="roundRect">
            <a:avLst>
              <a:gd name="adj" fmla="val 10909"/>
            </a:avLst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492240" y="3108960"/>
            <a:ext cx="4690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105.000 € ventas recuperables / año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3749040"/>
            <a:ext cx="4873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combinación de mejora de disponibilidad, reducción de sobrestock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ahorro operativo permite amortizar el proyecto en un plazo muy reducido.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2356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6235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4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45720"/>
          </a:xfrm>
          <a:prstGeom prst="rect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9920" y="411480"/>
            <a:ext cx="7315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56716" y="1554480"/>
            <a:ext cx="292608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2299716" y="1874520"/>
            <a:ext cx="640080" cy="640080"/>
          </a:xfrm>
          <a:prstGeom prst="ellipse">
            <a:avLst/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29971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31036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disponibilidad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producto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31436" y="1554480"/>
            <a:ext cx="292608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774436" y="1874520"/>
            <a:ext cx="640080" cy="640080"/>
          </a:xfrm>
          <a:prstGeom prst="ellipse">
            <a:avLst/>
          </a:prstGeom>
          <a:solidFill>
            <a:srgbClr val="0E84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77443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05756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sobrestock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6156" y="1554480"/>
            <a:ext cx="292608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63500" dist="12700" dir="162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9249156" y="1874520"/>
            <a:ext cx="640080" cy="640080"/>
          </a:xfrm>
          <a:prstGeom prst="ellipse">
            <a:avLst/>
          </a:prstGeom>
          <a:solidFill>
            <a:srgbClr val="EAA8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924915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0476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Mayor productividad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1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operativa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371600" y="4754880"/>
            <a:ext cx="9445752" cy="1005840"/>
          </a:xfrm>
          <a:prstGeom prst="roundRect">
            <a:avLst>
              <a:gd name="adj" fmla="val 5455"/>
            </a:avLst>
          </a:prstGeom>
          <a:solidFill>
            <a:srgbClr val="11AF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371600" y="4754880"/>
            <a:ext cx="9445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Pequeña inversión · Rápida implantación · Impacto directo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 ventas, stock y eficiencia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ApplyChain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141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482</Words>
  <Application>Microsoft Office PowerPoint</Application>
  <PresentationFormat>Panorámica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Aharoni</vt:lpstr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Engine</dc:title>
  <dc:subject>Presentación ejecutiva — ApplyChain</dc:subject>
  <dc:creator>ApplyChain</dc:creator>
  <cp:lastModifiedBy>Diego Haisch Timm</cp:lastModifiedBy>
  <cp:revision>4</cp:revision>
  <dcterms:created xsi:type="dcterms:W3CDTF">2026-06-09T08:42:39Z</dcterms:created>
  <dcterms:modified xsi:type="dcterms:W3CDTF">2026-06-10T07:44:33Z</dcterms:modified>
</cp:coreProperties>
</file>